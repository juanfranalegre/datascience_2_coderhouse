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Lst>
  <p:sldSz cx="9144000" cy="5143500" type="screen16x9"/>
  <p:notesSz cx="6858000" cy="9144000"/>
  <p:embeddedFontLst>
    <p:embeddedFont>
      <p:font typeface="Roboto" panose="02000000000000000000" pitchFamily="2"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226"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555e2dac81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555e2dac81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555e2dac81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555e2dac8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555e2dac81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555e2dac81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555e2dac81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555e2dac81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555e2dac81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555e2dac81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55e2dac81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55e2dac81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555e2dac81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555e2dac81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555e2dac81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555e2dac81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555e2dac81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55e2dac81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50371C29-1EDD-7B01-ED25-B71892E50D82}"/>
            </a:ext>
          </a:extLst>
        </p:cNvPr>
        <p:cNvGrpSpPr/>
        <p:nvPr/>
      </p:nvGrpSpPr>
      <p:grpSpPr>
        <a:xfrm>
          <a:off x="0" y="0"/>
          <a:ext cx="0" cy="0"/>
          <a:chOff x="0" y="0"/>
          <a:chExt cx="0" cy="0"/>
        </a:xfrm>
      </p:grpSpPr>
      <p:sp>
        <p:nvSpPr>
          <p:cNvPr id="113" name="Google Shape;113;g3555e2dac81_0_35:notes">
            <a:extLst>
              <a:ext uri="{FF2B5EF4-FFF2-40B4-BE49-F238E27FC236}">
                <a16:creationId xmlns:a16="http://schemas.microsoft.com/office/drawing/2014/main" id="{E3FB584A-9887-FAD2-10CD-A9C1520980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55e2dac81_0_35:notes">
            <a:extLst>
              <a:ext uri="{FF2B5EF4-FFF2-40B4-BE49-F238E27FC236}">
                <a16:creationId xmlns:a16="http://schemas.microsoft.com/office/drawing/2014/main" id="{365209D9-BCE1-76FC-78B4-B2B3240AA5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57369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ADFBB6D0-1BF7-EF28-F5A4-77F69EEE10AA}"/>
            </a:ext>
          </a:extLst>
        </p:cNvPr>
        <p:cNvGrpSpPr/>
        <p:nvPr/>
      </p:nvGrpSpPr>
      <p:grpSpPr>
        <a:xfrm>
          <a:off x="0" y="0"/>
          <a:ext cx="0" cy="0"/>
          <a:chOff x="0" y="0"/>
          <a:chExt cx="0" cy="0"/>
        </a:xfrm>
      </p:grpSpPr>
      <p:sp>
        <p:nvSpPr>
          <p:cNvPr id="113" name="Google Shape;113;g3555e2dac81_0_35:notes">
            <a:extLst>
              <a:ext uri="{FF2B5EF4-FFF2-40B4-BE49-F238E27FC236}">
                <a16:creationId xmlns:a16="http://schemas.microsoft.com/office/drawing/2014/main" id="{EDAD3CF8-CC2B-F769-D687-60C021392D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55e2dac81_0_35:notes">
            <a:extLst>
              <a:ext uri="{FF2B5EF4-FFF2-40B4-BE49-F238E27FC236}">
                <a16:creationId xmlns:a16="http://schemas.microsoft.com/office/drawing/2014/main" id="{725CBE52-3408-571B-D870-913F81D6F1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7974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1624775"/>
            <a:ext cx="8743200" cy="16485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s-419" b="1"/>
              <a:t>¿Qué impulsa la satisfacción de los pasajeros?</a:t>
            </a:r>
            <a:endParaRPr b="1"/>
          </a:p>
        </p:txBody>
      </p:sp>
      <p:sp>
        <p:nvSpPr>
          <p:cNvPr id="55" name="Google Shape;55;p13"/>
          <p:cNvSpPr txBox="1">
            <a:spLocks noGrp="1"/>
          </p:cNvSpPr>
          <p:nvPr>
            <p:ph type="subTitle" idx="1"/>
          </p:nvPr>
        </p:nvSpPr>
        <p:spPr>
          <a:xfrm>
            <a:off x="311700" y="4478700"/>
            <a:ext cx="8520600" cy="664800"/>
          </a:xfrm>
          <a:prstGeom prst="rect">
            <a:avLst/>
          </a:prstGeom>
        </p:spPr>
        <p:txBody>
          <a:bodyPr spcFirstLastPara="1" wrap="square" lIns="91425" tIns="91425" rIns="91425" bIns="91425" anchor="t" anchorCtr="0">
            <a:normAutofit fontScale="47500" lnSpcReduction="20000"/>
          </a:bodyPr>
          <a:lstStyle/>
          <a:p>
            <a:pPr marL="0" lvl="0" indent="0" algn="ctr" rtl="0">
              <a:spcBef>
                <a:spcPts val="0"/>
              </a:spcBef>
              <a:spcAft>
                <a:spcPts val="0"/>
              </a:spcAft>
              <a:buClr>
                <a:schemeClr val="dk1"/>
              </a:buClr>
              <a:buSzPct val="39285"/>
              <a:buFont typeface="Arial"/>
              <a:buNone/>
            </a:pPr>
            <a:r>
              <a:rPr lang="es-419"/>
              <a:t> Juan Francisco Alegre</a:t>
            </a:r>
            <a:endParaRPr/>
          </a:p>
          <a:p>
            <a:pPr marL="0" lvl="0" indent="0" algn="ctr" rtl="0">
              <a:spcBef>
                <a:spcPts val="0"/>
              </a:spcBef>
              <a:spcAft>
                <a:spcPts val="0"/>
              </a:spcAft>
              <a:buNone/>
            </a:pPr>
            <a:r>
              <a:rPr lang="es-419"/>
              <a:t>Data Science II - Comisión 74565</a:t>
            </a:r>
            <a:endParaRPr/>
          </a:p>
          <a:p>
            <a:pPr marL="0" lvl="0" indent="0" algn="ctr" rtl="0">
              <a:spcBef>
                <a:spcPts val="0"/>
              </a:spcBef>
              <a:spcAft>
                <a:spcPts val="0"/>
              </a:spcAft>
              <a:buNone/>
            </a:pPr>
            <a:r>
              <a:rPr lang="es-419"/>
              <a:t>CoderHouse</a:t>
            </a:r>
            <a:endParaRPr/>
          </a:p>
        </p:txBody>
      </p:sp>
      <p:cxnSp>
        <p:nvCxnSpPr>
          <p:cNvPr id="56" name="Google Shape;56;p13"/>
          <p:cNvCxnSpPr/>
          <p:nvPr/>
        </p:nvCxnSpPr>
        <p:spPr>
          <a:xfrm>
            <a:off x="197900" y="4343153"/>
            <a:ext cx="8764500" cy="0"/>
          </a:xfrm>
          <a:prstGeom prst="straightConnector1">
            <a:avLst/>
          </a:prstGeom>
          <a:noFill/>
          <a:ln w="28575" cap="flat" cmpd="sng">
            <a:solidFill>
              <a:schemeClr val="dk2"/>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0"/>
        <p:cNvGrpSpPr/>
        <p:nvPr/>
      </p:nvGrpSpPr>
      <p:grpSpPr>
        <a:xfrm>
          <a:off x="0" y="0"/>
          <a:ext cx="0" cy="0"/>
          <a:chOff x="0" y="0"/>
          <a:chExt cx="0" cy="0"/>
        </a:xfrm>
      </p:grpSpPr>
      <p:sp>
        <p:nvSpPr>
          <p:cNvPr id="61" name="Google Shape;61;p14"/>
          <p:cNvSpPr txBox="1"/>
          <p:nvPr/>
        </p:nvSpPr>
        <p:spPr>
          <a:xfrm>
            <a:off x="665850" y="1547875"/>
            <a:ext cx="1310700" cy="69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2700" b="1" u="sng">
                <a:solidFill>
                  <a:schemeClr val="dk1"/>
                </a:solidFill>
              </a:rPr>
              <a:t>Índice</a:t>
            </a:r>
            <a:r>
              <a:rPr lang="es-419" sz="2700" b="1">
                <a:solidFill>
                  <a:schemeClr val="dk1"/>
                </a:solidFill>
              </a:rPr>
              <a:t>:</a:t>
            </a:r>
            <a:endParaRPr sz="2700" b="1">
              <a:solidFill>
                <a:schemeClr val="dk1"/>
              </a:solidFill>
            </a:endParaRPr>
          </a:p>
          <a:p>
            <a:pPr marL="0" lvl="0" indent="0" algn="l" rtl="0">
              <a:spcBef>
                <a:spcPts val="0"/>
              </a:spcBef>
              <a:spcAft>
                <a:spcPts val="0"/>
              </a:spcAft>
              <a:buNone/>
            </a:pPr>
            <a:endParaRPr sz="2200" b="1" u="sng">
              <a:solidFill>
                <a:schemeClr val="lt1"/>
              </a:solidFill>
            </a:endParaRPr>
          </a:p>
          <a:p>
            <a:pPr marL="0" lvl="0" indent="0" algn="l" rtl="0">
              <a:spcBef>
                <a:spcPts val="0"/>
              </a:spcBef>
              <a:spcAft>
                <a:spcPts val="0"/>
              </a:spcAft>
              <a:buNone/>
            </a:pPr>
            <a:endParaRPr sz="2200" b="1" u="sng">
              <a:solidFill>
                <a:schemeClr val="lt1"/>
              </a:solidFill>
            </a:endParaRPr>
          </a:p>
        </p:txBody>
      </p:sp>
      <p:sp>
        <p:nvSpPr>
          <p:cNvPr id="62" name="Google Shape;62;p14"/>
          <p:cNvSpPr txBox="1"/>
          <p:nvPr/>
        </p:nvSpPr>
        <p:spPr>
          <a:xfrm>
            <a:off x="1721100" y="2324475"/>
            <a:ext cx="5811300" cy="20877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Clr>
                <a:schemeClr val="dk1"/>
              </a:buClr>
              <a:buSzPts val="2000"/>
              <a:buChar char="●"/>
            </a:pPr>
            <a:r>
              <a:rPr lang="es-419" sz="2000">
                <a:solidFill>
                  <a:schemeClr val="dk1"/>
                </a:solidFill>
              </a:rPr>
              <a:t>Contexto y audiencia.</a:t>
            </a:r>
            <a:endParaRPr sz="2000">
              <a:solidFill>
                <a:schemeClr val="dk1"/>
              </a:solidFill>
            </a:endParaRPr>
          </a:p>
          <a:p>
            <a:pPr marL="457200" lvl="0" indent="0" algn="l" rtl="0">
              <a:spcBef>
                <a:spcPts val="0"/>
              </a:spcBef>
              <a:spcAft>
                <a:spcPts val="0"/>
              </a:spcAft>
              <a:buNone/>
            </a:pPr>
            <a:endParaRPr sz="800">
              <a:solidFill>
                <a:schemeClr val="dk1"/>
              </a:solidFill>
            </a:endParaRPr>
          </a:p>
          <a:p>
            <a:pPr marL="457200" lvl="0" indent="-355600" algn="l" rtl="0">
              <a:spcBef>
                <a:spcPts val="0"/>
              </a:spcBef>
              <a:spcAft>
                <a:spcPts val="0"/>
              </a:spcAft>
              <a:buClr>
                <a:schemeClr val="dk1"/>
              </a:buClr>
              <a:buSzPts val="2000"/>
              <a:buChar char="●"/>
            </a:pPr>
            <a:r>
              <a:rPr lang="es-419" sz="2000">
                <a:solidFill>
                  <a:schemeClr val="dk1"/>
                </a:solidFill>
              </a:rPr>
              <a:t>Objetivo e hipótesis.</a:t>
            </a:r>
            <a:endParaRPr sz="2000">
              <a:solidFill>
                <a:schemeClr val="dk1"/>
              </a:solidFill>
            </a:endParaRPr>
          </a:p>
          <a:p>
            <a:pPr marL="457200" lvl="0" indent="0" algn="l" rtl="0">
              <a:spcBef>
                <a:spcPts val="0"/>
              </a:spcBef>
              <a:spcAft>
                <a:spcPts val="0"/>
              </a:spcAft>
              <a:buNone/>
            </a:pPr>
            <a:endParaRPr sz="800">
              <a:solidFill>
                <a:schemeClr val="dk1"/>
              </a:solidFill>
            </a:endParaRPr>
          </a:p>
          <a:p>
            <a:pPr marL="457200" lvl="0" indent="-355600" algn="l" rtl="0">
              <a:spcBef>
                <a:spcPts val="0"/>
              </a:spcBef>
              <a:spcAft>
                <a:spcPts val="0"/>
              </a:spcAft>
              <a:buClr>
                <a:schemeClr val="dk1"/>
              </a:buClr>
              <a:buSzPts val="2000"/>
              <a:buChar char="●"/>
            </a:pPr>
            <a:r>
              <a:rPr lang="es-419" sz="2000">
                <a:solidFill>
                  <a:schemeClr val="dk1"/>
                </a:solidFill>
              </a:rPr>
              <a:t>Análisis exploratorio de los datos.</a:t>
            </a:r>
            <a:endParaRPr sz="2000">
              <a:solidFill>
                <a:schemeClr val="dk1"/>
              </a:solidFill>
            </a:endParaRPr>
          </a:p>
          <a:p>
            <a:pPr marL="457200" lvl="0" indent="0" algn="l" rtl="0">
              <a:spcBef>
                <a:spcPts val="0"/>
              </a:spcBef>
              <a:spcAft>
                <a:spcPts val="0"/>
              </a:spcAft>
              <a:buNone/>
            </a:pPr>
            <a:endParaRPr sz="800">
              <a:solidFill>
                <a:schemeClr val="dk1"/>
              </a:solidFill>
            </a:endParaRPr>
          </a:p>
          <a:p>
            <a:pPr marL="457200" lvl="0" indent="-355600" algn="l" rtl="0">
              <a:spcBef>
                <a:spcPts val="0"/>
              </a:spcBef>
              <a:spcAft>
                <a:spcPts val="0"/>
              </a:spcAft>
              <a:buClr>
                <a:schemeClr val="dk1"/>
              </a:buClr>
              <a:buSzPts val="2000"/>
              <a:buChar char="●"/>
            </a:pPr>
            <a:r>
              <a:rPr lang="es-419" sz="2000">
                <a:solidFill>
                  <a:schemeClr val="dk1"/>
                </a:solidFill>
              </a:rPr>
              <a:t>Conclusiones.</a:t>
            </a:r>
            <a:endParaRPr sz="20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6"/>
        <p:cNvGrpSpPr/>
        <p:nvPr/>
      </p:nvGrpSpPr>
      <p:grpSpPr>
        <a:xfrm>
          <a:off x="0" y="0"/>
          <a:ext cx="0" cy="0"/>
          <a:chOff x="0" y="0"/>
          <a:chExt cx="0" cy="0"/>
        </a:xfrm>
      </p:grpSpPr>
      <p:pic>
        <p:nvPicPr>
          <p:cNvPr id="67" name="Google Shape;67;p15" title="f66ff3fa-2f66-4d7f-baab-3052a9d34378"/>
          <p:cNvPicPr preferRelativeResize="0"/>
          <p:nvPr/>
        </p:nvPicPr>
        <p:blipFill>
          <a:blip r:embed="rId4">
            <a:alphaModFix/>
          </a:blip>
          <a:stretch>
            <a:fillRect/>
          </a:stretch>
        </p:blipFill>
        <p:spPr>
          <a:xfrm>
            <a:off x="4354675" y="2571750"/>
            <a:ext cx="4566774" cy="2303451"/>
          </a:xfrm>
          <a:prstGeom prst="rect">
            <a:avLst/>
          </a:prstGeom>
          <a:noFill/>
          <a:ln>
            <a:noFill/>
          </a:ln>
        </p:spPr>
      </p:pic>
      <p:sp>
        <p:nvSpPr>
          <p:cNvPr id="68" name="Google Shape;68;p15"/>
          <p:cNvSpPr txBox="1"/>
          <p:nvPr/>
        </p:nvSpPr>
        <p:spPr>
          <a:xfrm>
            <a:off x="2431075" y="237850"/>
            <a:ext cx="43398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3000" b="1">
                <a:solidFill>
                  <a:schemeClr val="dk1"/>
                </a:solidFill>
                <a:highlight>
                  <a:schemeClr val="lt1"/>
                </a:highlight>
              </a:rPr>
              <a:t>Contexto y audiencia</a:t>
            </a:r>
            <a:endParaRPr sz="3000" b="1">
              <a:solidFill>
                <a:schemeClr val="dk1"/>
              </a:solidFill>
              <a:highlight>
                <a:schemeClr val="lt1"/>
              </a:highlight>
            </a:endParaRPr>
          </a:p>
        </p:txBody>
      </p:sp>
      <p:sp>
        <p:nvSpPr>
          <p:cNvPr id="69" name="Google Shape;69;p15"/>
          <p:cNvSpPr txBox="1"/>
          <p:nvPr/>
        </p:nvSpPr>
        <p:spPr>
          <a:xfrm>
            <a:off x="593475" y="1302850"/>
            <a:ext cx="81132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a:solidFill>
                  <a:srgbClr val="1F1F1F"/>
                </a:solidFill>
                <a:highlight>
                  <a:srgbClr val="FFFFFF"/>
                </a:highlight>
                <a:latin typeface="Roboto"/>
                <a:ea typeface="Roboto"/>
                <a:cs typeface="Roboto"/>
                <a:sym typeface="Roboto"/>
              </a:rPr>
              <a:t>En los ultimos años se observa un crecimiento en la cantidad de vuelos que realizan las personas, aunque así también hay una gran cantidad de oferta para hacerle frente a esa demanda. En la actualidad, la satisfacción de los pasajeros es un factor crítico para las aerolíneas, pues influye directamente en la fidelidad de los clientes y en los ingresos. </a:t>
            </a:r>
            <a:endParaRPr sz="2000">
              <a:solidFill>
                <a:schemeClr val="dk2"/>
              </a:solidFill>
            </a:endParaRPr>
          </a:p>
        </p:txBody>
      </p:sp>
      <p:sp>
        <p:nvSpPr>
          <p:cNvPr id="70" name="Google Shape;70;p15"/>
          <p:cNvSpPr txBox="1"/>
          <p:nvPr/>
        </p:nvSpPr>
        <p:spPr>
          <a:xfrm>
            <a:off x="593475" y="2349550"/>
            <a:ext cx="36375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a:solidFill>
                  <a:srgbClr val="1F1F1F"/>
                </a:solidFill>
                <a:highlight>
                  <a:srgbClr val="FFFFFF"/>
                </a:highlight>
                <a:latin typeface="Roboto"/>
                <a:ea typeface="Roboto"/>
                <a:cs typeface="Roboto"/>
                <a:sym typeface="Roboto"/>
              </a:rPr>
              <a:t>Estudios recientes muestran que la mayoría de los usuarios considera la calidad del servicio como factor clave en su elección de vuelo.</a:t>
            </a:r>
            <a:endParaRPr>
              <a:solidFill>
                <a:schemeClr val="dk2"/>
              </a:solidFill>
            </a:endParaRPr>
          </a:p>
        </p:txBody>
      </p:sp>
      <p:sp>
        <p:nvSpPr>
          <p:cNvPr id="71" name="Google Shape;71;p15"/>
          <p:cNvSpPr txBox="1"/>
          <p:nvPr/>
        </p:nvSpPr>
        <p:spPr>
          <a:xfrm>
            <a:off x="593475" y="3414525"/>
            <a:ext cx="3575700" cy="169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a:solidFill>
                  <a:srgbClr val="1F1F1F"/>
                </a:solidFill>
                <a:highlight>
                  <a:srgbClr val="FFFFFF"/>
                </a:highlight>
                <a:latin typeface="Roboto"/>
                <a:ea typeface="Roboto"/>
                <a:cs typeface="Roboto"/>
                <a:sym typeface="Roboto"/>
              </a:rPr>
              <a:t>Ante este escenario la aerolínea US nos contrata para analizar que impulsa la satisfacción de los pasajeros.</a:t>
            </a:r>
            <a:endParaRPr>
              <a:solidFill>
                <a:srgbClr val="1F1F1F"/>
              </a:solidFill>
              <a:highlight>
                <a:srgbClr val="FFFFFF"/>
              </a:highlight>
              <a:latin typeface="Roboto"/>
              <a:ea typeface="Roboto"/>
              <a:cs typeface="Roboto"/>
              <a:sym typeface="Roboto"/>
            </a:endParaRPr>
          </a:p>
          <a:p>
            <a:pPr marL="0" lvl="0" indent="0" algn="l" rtl="0">
              <a:spcBef>
                <a:spcPts val="0"/>
              </a:spcBef>
              <a:spcAft>
                <a:spcPts val="0"/>
              </a:spcAft>
              <a:buNone/>
            </a:pPr>
            <a:endParaRPr>
              <a:solidFill>
                <a:srgbClr val="1F1F1F"/>
              </a:solidFill>
              <a:highlight>
                <a:srgbClr val="FFFFFF"/>
              </a:highlight>
              <a:latin typeface="Roboto"/>
              <a:ea typeface="Roboto"/>
              <a:cs typeface="Roboto"/>
              <a:sym typeface="Roboto"/>
            </a:endParaRPr>
          </a:p>
          <a:p>
            <a:pPr marL="0" lvl="0" indent="0" algn="l" rtl="0">
              <a:spcBef>
                <a:spcPts val="0"/>
              </a:spcBef>
              <a:spcAft>
                <a:spcPts val="0"/>
              </a:spcAft>
              <a:buNone/>
            </a:pPr>
            <a:r>
              <a:rPr lang="es-419">
                <a:solidFill>
                  <a:srgbClr val="1F1F1F"/>
                </a:solidFill>
                <a:highlight>
                  <a:srgbClr val="FFFFFF"/>
                </a:highlight>
                <a:latin typeface="Roboto"/>
                <a:ea typeface="Roboto"/>
                <a:cs typeface="Roboto"/>
                <a:sym typeface="Roboto"/>
              </a:rPr>
              <a:t>Por ende vamos a realizar un análisis de los datos para poder responder la pregunta del párrafo anterior.</a:t>
            </a:r>
            <a:endParaRPr>
              <a:solidFill>
                <a:srgbClr val="1F1F1F"/>
              </a:solidFill>
              <a:highlight>
                <a:srgbClr val="FFFFFF"/>
              </a:highlight>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5"/>
        <p:cNvGrpSpPr/>
        <p:nvPr/>
      </p:nvGrpSpPr>
      <p:grpSpPr>
        <a:xfrm>
          <a:off x="0" y="0"/>
          <a:ext cx="0" cy="0"/>
          <a:chOff x="0" y="0"/>
          <a:chExt cx="0" cy="0"/>
        </a:xfrm>
      </p:grpSpPr>
      <p:sp>
        <p:nvSpPr>
          <p:cNvPr id="76" name="Google Shape;76;p16"/>
          <p:cNvSpPr txBox="1"/>
          <p:nvPr/>
        </p:nvSpPr>
        <p:spPr>
          <a:xfrm>
            <a:off x="478200" y="1314050"/>
            <a:ext cx="8187600" cy="2861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600"/>
              </a:spcBef>
              <a:spcAft>
                <a:spcPts val="0"/>
              </a:spcAft>
              <a:buNone/>
            </a:pPr>
            <a:r>
              <a:rPr lang="es-419">
                <a:solidFill>
                  <a:srgbClr val="1F1F1F"/>
                </a:solidFill>
                <a:highlight>
                  <a:srgbClr val="FFFFFF"/>
                </a:highlight>
                <a:latin typeface="Roboto"/>
                <a:ea typeface="Roboto"/>
                <a:cs typeface="Roboto"/>
                <a:sym typeface="Roboto"/>
              </a:rPr>
              <a:t>En base a la problemática planteada, se realizará un análisis de qué variables son aquellas que llevan a la satisfacción del cliente y cuáles no.</a:t>
            </a:r>
            <a:endParaRPr>
              <a:solidFill>
                <a:srgbClr val="1F1F1F"/>
              </a:solidFill>
              <a:highlight>
                <a:srgbClr val="FFFFFF"/>
              </a:highlight>
              <a:latin typeface="Roboto"/>
              <a:ea typeface="Roboto"/>
              <a:cs typeface="Roboto"/>
              <a:sym typeface="Roboto"/>
            </a:endParaRPr>
          </a:p>
          <a:p>
            <a:pPr marL="0" lvl="0" indent="0" algn="l" rtl="0">
              <a:lnSpc>
                <a:spcPct val="115000"/>
              </a:lnSpc>
              <a:spcBef>
                <a:spcPts val="600"/>
              </a:spcBef>
              <a:spcAft>
                <a:spcPts val="0"/>
              </a:spcAft>
              <a:buNone/>
            </a:pPr>
            <a:r>
              <a:rPr lang="es-419">
                <a:solidFill>
                  <a:srgbClr val="1F1F1F"/>
                </a:solidFill>
                <a:highlight>
                  <a:srgbClr val="FFFFFF"/>
                </a:highlight>
                <a:latin typeface="Roboto"/>
                <a:ea typeface="Roboto"/>
                <a:cs typeface="Roboto"/>
                <a:sym typeface="Roboto"/>
              </a:rPr>
              <a:t>Para esto vamos a plantear algunas hipótesis:</a:t>
            </a:r>
            <a:endParaRPr>
              <a:solidFill>
                <a:srgbClr val="1F1F1F"/>
              </a:solidFill>
              <a:highlight>
                <a:srgbClr val="FFFFFF"/>
              </a:highlight>
              <a:latin typeface="Roboto"/>
              <a:ea typeface="Roboto"/>
              <a:cs typeface="Roboto"/>
              <a:sym typeface="Roboto"/>
            </a:endParaRPr>
          </a:p>
          <a:p>
            <a:pPr marL="457200" lvl="0" indent="-317500" algn="l" rtl="0">
              <a:lnSpc>
                <a:spcPct val="115000"/>
              </a:lnSpc>
              <a:spcBef>
                <a:spcPts val="600"/>
              </a:spcBef>
              <a:spcAft>
                <a:spcPts val="0"/>
              </a:spcAft>
              <a:buClr>
                <a:srgbClr val="1F1F1F"/>
              </a:buClr>
              <a:buSzPts val="1400"/>
              <a:buFont typeface="Roboto"/>
              <a:buChar char="●"/>
            </a:pPr>
            <a:r>
              <a:rPr lang="es-419">
                <a:solidFill>
                  <a:srgbClr val="1F1F1F"/>
                </a:solidFill>
                <a:highlight>
                  <a:srgbClr val="FFFFFF"/>
                </a:highlight>
                <a:latin typeface="Roboto"/>
                <a:ea typeface="Roboto"/>
                <a:cs typeface="Roboto"/>
                <a:sym typeface="Roboto"/>
              </a:rPr>
              <a:t>La edad y la distancia del vuelo afecta a la satisfacción del cliente?</a:t>
            </a:r>
            <a:endParaRPr>
              <a:solidFill>
                <a:srgbClr val="1F1F1F"/>
              </a:solidFill>
              <a:highlight>
                <a:srgbClr val="FFFFFF"/>
              </a:highlight>
              <a:latin typeface="Roboto"/>
              <a:ea typeface="Roboto"/>
              <a:cs typeface="Roboto"/>
              <a:sym typeface="Roboto"/>
            </a:endParaRPr>
          </a:p>
          <a:p>
            <a:pPr marL="457200" lvl="0" indent="-317500" algn="l" rtl="0">
              <a:lnSpc>
                <a:spcPct val="115000"/>
              </a:lnSpc>
              <a:spcBef>
                <a:spcPts val="0"/>
              </a:spcBef>
              <a:spcAft>
                <a:spcPts val="0"/>
              </a:spcAft>
              <a:buClr>
                <a:srgbClr val="1F1F1F"/>
              </a:buClr>
              <a:buSzPts val="1400"/>
              <a:buFont typeface="Roboto"/>
              <a:buChar char="●"/>
            </a:pPr>
            <a:r>
              <a:rPr lang="es-419">
                <a:solidFill>
                  <a:srgbClr val="1F1F1F"/>
                </a:solidFill>
                <a:highlight>
                  <a:srgbClr val="FFFFFF"/>
                </a:highlight>
                <a:latin typeface="Roboto"/>
                <a:ea typeface="Roboto"/>
                <a:cs typeface="Roboto"/>
                <a:sym typeface="Roboto"/>
              </a:rPr>
              <a:t>Si la clase de vuelo es mayor, la satisfacción aumenta?</a:t>
            </a:r>
            <a:endParaRPr>
              <a:solidFill>
                <a:srgbClr val="1F1F1F"/>
              </a:solidFill>
              <a:highlight>
                <a:srgbClr val="FFFFFF"/>
              </a:highlight>
              <a:latin typeface="Roboto"/>
              <a:ea typeface="Roboto"/>
              <a:cs typeface="Roboto"/>
              <a:sym typeface="Roboto"/>
            </a:endParaRPr>
          </a:p>
          <a:p>
            <a:pPr marL="457200" lvl="0" indent="-317500" algn="l" rtl="0">
              <a:lnSpc>
                <a:spcPct val="115000"/>
              </a:lnSpc>
              <a:spcBef>
                <a:spcPts val="0"/>
              </a:spcBef>
              <a:spcAft>
                <a:spcPts val="0"/>
              </a:spcAft>
              <a:buClr>
                <a:srgbClr val="1F1F1F"/>
              </a:buClr>
              <a:buSzPts val="1400"/>
              <a:buFont typeface="Roboto"/>
              <a:buChar char="●"/>
            </a:pPr>
            <a:r>
              <a:rPr lang="es-419">
                <a:solidFill>
                  <a:srgbClr val="1F1F1F"/>
                </a:solidFill>
                <a:highlight>
                  <a:srgbClr val="FFFFFF"/>
                </a:highlight>
                <a:latin typeface="Roboto"/>
                <a:ea typeface="Roboto"/>
                <a:cs typeface="Roboto"/>
                <a:sym typeface="Roboto"/>
              </a:rPr>
              <a:t>El Check in y la reserva online ayuda a que aumente la satisfacción? Influye la edad??</a:t>
            </a:r>
            <a:endParaRPr>
              <a:solidFill>
                <a:srgbClr val="1F1F1F"/>
              </a:solidFill>
              <a:highlight>
                <a:srgbClr val="FFFFFF"/>
              </a:highlight>
              <a:latin typeface="Roboto"/>
              <a:ea typeface="Roboto"/>
              <a:cs typeface="Roboto"/>
              <a:sym typeface="Roboto"/>
            </a:endParaRPr>
          </a:p>
          <a:p>
            <a:pPr marL="457200" lvl="0" indent="-317500" algn="l" rtl="0">
              <a:lnSpc>
                <a:spcPct val="115000"/>
              </a:lnSpc>
              <a:spcBef>
                <a:spcPts val="0"/>
              </a:spcBef>
              <a:spcAft>
                <a:spcPts val="0"/>
              </a:spcAft>
              <a:buClr>
                <a:srgbClr val="1F1F1F"/>
              </a:buClr>
              <a:buSzPts val="1400"/>
              <a:buFont typeface="Roboto"/>
              <a:buChar char="●"/>
            </a:pPr>
            <a:r>
              <a:rPr lang="es-419">
                <a:solidFill>
                  <a:srgbClr val="1F1F1F"/>
                </a:solidFill>
                <a:highlight>
                  <a:srgbClr val="FFFFFF"/>
                </a:highlight>
                <a:latin typeface="Roboto"/>
                <a:ea typeface="Roboto"/>
                <a:cs typeface="Roboto"/>
                <a:sym typeface="Roboto"/>
              </a:rPr>
              <a:t>El tipo de viaje influye en la satisfacción del cliente?</a:t>
            </a:r>
            <a:endParaRPr>
              <a:solidFill>
                <a:srgbClr val="1F1F1F"/>
              </a:solidFill>
              <a:highlight>
                <a:srgbClr val="FFFFFF"/>
              </a:highlight>
              <a:latin typeface="Roboto"/>
              <a:ea typeface="Roboto"/>
              <a:cs typeface="Roboto"/>
              <a:sym typeface="Roboto"/>
            </a:endParaRPr>
          </a:p>
          <a:p>
            <a:pPr marL="457200" lvl="0" indent="-317500" algn="l" rtl="0">
              <a:lnSpc>
                <a:spcPct val="115000"/>
              </a:lnSpc>
              <a:spcBef>
                <a:spcPts val="0"/>
              </a:spcBef>
              <a:spcAft>
                <a:spcPts val="0"/>
              </a:spcAft>
              <a:buClr>
                <a:srgbClr val="1F1F1F"/>
              </a:buClr>
              <a:buSzPts val="1400"/>
              <a:buFont typeface="Roboto"/>
              <a:buChar char="●"/>
            </a:pPr>
            <a:r>
              <a:rPr lang="es-419">
                <a:solidFill>
                  <a:srgbClr val="1F1F1F"/>
                </a:solidFill>
                <a:highlight>
                  <a:srgbClr val="FFFFFF"/>
                </a:highlight>
                <a:latin typeface="Roboto"/>
                <a:ea typeface="Roboto"/>
                <a:cs typeface="Roboto"/>
                <a:sym typeface="Roboto"/>
              </a:rPr>
              <a:t>Los minutos de retraso tanto en la llegada como en la salida afectan?</a:t>
            </a:r>
            <a:endParaRPr>
              <a:solidFill>
                <a:srgbClr val="1F1F1F"/>
              </a:solidFill>
              <a:highlight>
                <a:srgbClr val="FFFFFF"/>
              </a:highlight>
              <a:latin typeface="Roboto"/>
              <a:ea typeface="Roboto"/>
              <a:cs typeface="Roboto"/>
              <a:sym typeface="Roboto"/>
            </a:endParaRPr>
          </a:p>
          <a:p>
            <a:pPr marL="457200" lvl="0" indent="-317500" algn="l" rtl="0">
              <a:lnSpc>
                <a:spcPct val="115000"/>
              </a:lnSpc>
              <a:spcBef>
                <a:spcPts val="0"/>
              </a:spcBef>
              <a:spcAft>
                <a:spcPts val="0"/>
              </a:spcAft>
              <a:buClr>
                <a:srgbClr val="1F1F1F"/>
              </a:buClr>
              <a:buSzPts val="1400"/>
              <a:buFont typeface="Roboto"/>
              <a:buChar char="●"/>
            </a:pPr>
            <a:r>
              <a:rPr lang="es-419">
                <a:solidFill>
                  <a:srgbClr val="1F1F1F"/>
                </a:solidFill>
                <a:highlight>
                  <a:srgbClr val="FFFFFF"/>
                </a:highlight>
                <a:latin typeface="Roboto"/>
                <a:ea typeface="Roboto"/>
                <a:cs typeface="Roboto"/>
                <a:sym typeface="Roboto"/>
              </a:rPr>
              <a:t>Hay algun servicio que impacte directamente en la satisfacción del cliente?</a:t>
            </a:r>
            <a:endParaRPr>
              <a:solidFill>
                <a:srgbClr val="1F1F1F"/>
              </a:solidFill>
              <a:highlight>
                <a:srgbClr val="FFFFFF"/>
              </a:highlight>
              <a:latin typeface="Roboto"/>
              <a:ea typeface="Roboto"/>
              <a:cs typeface="Roboto"/>
              <a:sym typeface="Roboto"/>
            </a:endParaRPr>
          </a:p>
          <a:p>
            <a:pPr marL="0" lvl="0" indent="0" algn="l" rtl="0">
              <a:lnSpc>
                <a:spcPct val="115000"/>
              </a:lnSpc>
              <a:spcBef>
                <a:spcPts val="600"/>
              </a:spcBef>
              <a:spcAft>
                <a:spcPts val="600"/>
              </a:spcAft>
              <a:buNone/>
            </a:pPr>
            <a:r>
              <a:rPr lang="es-419">
                <a:solidFill>
                  <a:srgbClr val="1F1F1F"/>
                </a:solidFill>
                <a:highlight>
                  <a:srgbClr val="FFFFFF"/>
                </a:highlight>
                <a:latin typeface="Roboto"/>
                <a:ea typeface="Roboto"/>
                <a:cs typeface="Roboto"/>
                <a:sym typeface="Roboto"/>
              </a:rPr>
              <a:t>Analizaremos los datos para responder a las mismas.</a:t>
            </a:r>
            <a:endParaRPr>
              <a:solidFill>
                <a:srgbClr val="1F1F1F"/>
              </a:solidFill>
              <a:highlight>
                <a:srgbClr val="FFFFFF"/>
              </a:highlight>
              <a:latin typeface="Roboto"/>
              <a:ea typeface="Roboto"/>
              <a:cs typeface="Roboto"/>
              <a:sym typeface="Roboto"/>
            </a:endParaRPr>
          </a:p>
        </p:txBody>
      </p:sp>
      <p:sp>
        <p:nvSpPr>
          <p:cNvPr id="77" name="Google Shape;77;p16"/>
          <p:cNvSpPr txBox="1"/>
          <p:nvPr/>
        </p:nvSpPr>
        <p:spPr>
          <a:xfrm>
            <a:off x="2431075" y="237850"/>
            <a:ext cx="43398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3000" b="1">
                <a:solidFill>
                  <a:schemeClr val="dk1"/>
                </a:solidFill>
                <a:highlight>
                  <a:schemeClr val="lt1"/>
                </a:highlight>
              </a:rPr>
              <a:t>Objetivo e hipotesis</a:t>
            </a:r>
            <a:endParaRPr sz="3000" b="1">
              <a:solidFill>
                <a:schemeClr val="dk1"/>
              </a:solidFill>
              <a:highlight>
                <a:schemeClr val="lt1"/>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17"/>
          <p:cNvSpPr txBox="1"/>
          <p:nvPr/>
        </p:nvSpPr>
        <p:spPr>
          <a:xfrm>
            <a:off x="1389275" y="237850"/>
            <a:ext cx="64047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3000" b="1">
                <a:solidFill>
                  <a:schemeClr val="dk1"/>
                </a:solidFill>
                <a:highlight>
                  <a:schemeClr val="lt1"/>
                </a:highlight>
              </a:rPr>
              <a:t>Analisis exploratorio de los datos</a:t>
            </a:r>
            <a:endParaRPr sz="3000" b="1">
              <a:solidFill>
                <a:schemeClr val="dk1"/>
              </a:solidFill>
              <a:highlight>
                <a:schemeClr val="lt1"/>
              </a:highlight>
            </a:endParaRPr>
          </a:p>
        </p:txBody>
      </p:sp>
      <p:pic>
        <p:nvPicPr>
          <p:cNvPr id="83" name="Google Shape;83;p17"/>
          <p:cNvPicPr preferRelativeResize="0"/>
          <p:nvPr/>
        </p:nvPicPr>
        <p:blipFill>
          <a:blip r:embed="rId4">
            <a:alphaModFix/>
          </a:blip>
          <a:stretch>
            <a:fillRect/>
          </a:stretch>
        </p:blipFill>
        <p:spPr>
          <a:xfrm>
            <a:off x="6011475" y="960550"/>
            <a:ext cx="3069450" cy="1842725"/>
          </a:xfrm>
          <a:prstGeom prst="rect">
            <a:avLst/>
          </a:prstGeom>
          <a:noFill/>
          <a:ln>
            <a:noFill/>
          </a:ln>
        </p:spPr>
      </p:pic>
      <p:pic>
        <p:nvPicPr>
          <p:cNvPr id="84" name="Google Shape;84;p17"/>
          <p:cNvPicPr preferRelativeResize="0"/>
          <p:nvPr/>
        </p:nvPicPr>
        <p:blipFill>
          <a:blip r:embed="rId5">
            <a:alphaModFix/>
          </a:blip>
          <a:stretch>
            <a:fillRect/>
          </a:stretch>
        </p:blipFill>
        <p:spPr>
          <a:xfrm>
            <a:off x="163200" y="3180250"/>
            <a:ext cx="8825825" cy="1963250"/>
          </a:xfrm>
          <a:prstGeom prst="rect">
            <a:avLst/>
          </a:prstGeom>
          <a:noFill/>
          <a:ln>
            <a:noFill/>
          </a:ln>
        </p:spPr>
      </p:pic>
      <p:sp>
        <p:nvSpPr>
          <p:cNvPr id="85" name="Google Shape;85;p17"/>
          <p:cNvSpPr txBox="1"/>
          <p:nvPr/>
        </p:nvSpPr>
        <p:spPr>
          <a:xfrm>
            <a:off x="311575" y="960550"/>
            <a:ext cx="5576400" cy="2219700"/>
          </a:xfrm>
          <a:prstGeom prst="rect">
            <a:avLst/>
          </a:prstGeom>
          <a:noFill/>
          <a:ln>
            <a:noFill/>
          </a:ln>
        </p:spPr>
        <p:txBody>
          <a:bodyPr spcFirstLastPara="1" wrap="square" lIns="91425" tIns="91425" rIns="91425" bIns="91425" anchor="t" anchorCtr="0">
            <a:spAutoFit/>
          </a:bodyPr>
          <a:lstStyle/>
          <a:p>
            <a:pPr marL="76200" marR="76200" lvl="0" indent="0" algn="l" rtl="0">
              <a:lnSpc>
                <a:spcPct val="160000"/>
              </a:lnSpc>
              <a:spcBef>
                <a:spcPts val="600"/>
              </a:spcBef>
              <a:spcAft>
                <a:spcPts val="0"/>
              </a:spcAft>
              <a:buNone/>
            </a:pPr>
            <a:r>
              <a:rPr lang="es-419" sz="1200" b="1">
                <a:solidFill>
                  <a:srgbClr val="1F1F1F"/>
                </a:solidFill>
                <a:highlight>
                  <a:schemeClr val="lt1"/>
                </a:highlight>
              </a:rPr>
              <a:t>Los datos están equilibrados entre los pasajeros satisfechos (43%) y los no satisfechos con un (57%).</a:t>
            </a:r>
            <a:endParaRPr sz="1200" b="1">
              <a:solidFill>
                <a:srgbClr val="1F1F1F"/>
              </a:solidFill>
              <a:highlight>
                <a:schemeClr val="lt1"/>
              </a:highlight>
            </a:endParaRPr>
          </a:p>
          <a:p>
            <a:pPr marL="76200" marR="76200" lvl="0" indent="0" algn="l" rtl="0">
              <a:lnSpc>
                <a:spcPct val="160000"/>
              </a:lnSpc>
              <a:spcBef>
                <a:spcPts val="600"/>
              </a:spcBef>
              <a:spcAft>
                <a:spcPts val="600"/>
              </a:spcAft>
              <a:buNone/>
            </a:pPr>
            <a:r>
              <a:rPr lang="es-419" sz="1200" b="1">
                <a:solidFill>
                  <a:srgbClr val="1F1F1F"/>
                </a:solidFill>
                <a:highlight>
                  <a:srgbClr val="FFFFFF"/>
                </a:highlight>
              </a:rPr>
              <a:t>Si analizamos las variables categóricas observamos que en cuanto a género está dividido en formas casi iguales (51% mujeres y 49% hombres), hay muchos más clientes leales (82%), el 69% de los viajes son por negocios y mas de un 90% de los pasajeros viajan en Business o en Económica (Eco), dividido de forma similar.</a:t>
            </a:r>
            <a:endParaRPr sz="1200" b="1">
              <a:solidFill>
                <a:srgbClr val="1F1F1F"/>
              </a:solidFill>
              <a:highlight>
                <a:schemeClr val="lt1"/>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9"/>
        <p:cNvGrpSpPr/>
        <p:nvPr/>
      </p:nvGrpSpPr>
      <p:grpSpPr>
        <a:xfrm>
          <a:off x="0" y="0"/>
          <a:ext cx="0" cy="0"/>
          <a:chOff x="0" y="0"/>
          <a:chExt cx="0" cy="0"/>
        </a:xfrm>
      </p:grpSpPr>
      <p:sp>
        <p:nvSpPr>
          <p:cNvPr id="90" name="Google Shape;90;p18"/>
          <p:cNvSpPr txBox="1"/>
          <p:nvPr/>
        </p:nvSpPr>
        <p:spPr>
          <a:xfrm>
            <a:off x="4255750" y="881700"/>
            <a:ext cx="4512900" cy="34341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600"/>
              </a:spcBef>
              <a:spcAft>
                <a:spcPts val="0"/>
              </a:spcAft>
              <a:buClr>
                <a:srgbClr val="1F1F1F"/>
              </a:buClr>
              <a:buSzPts val="1400"/>
              <a:buFont typeface="Roboto"/>
              <a:buChar char="●"/>
            </a:pPr>
            <a:r>
              <a:rPr lang="es-419">
                <a:solidFill>
                  <a:srgbClr val="1F1F1F"/>
                </a:solidFill>
                <a:highlight>
                  <a:srgbClr val="FFFFFF"/>
                </a:highlight>
                <a:latin typeface="Roboto"/>
                <a:ea typeface="Roboto"/>
                <a:cs typeface="Roboto"/>
                <a:sym typeface="Roboto"/>
              </a:rPr>
              <a:t>Si evaluamos los viajes personales, solo el 10% de los clientes quedan satisfechos. Mientras que si el viaje es de negocios casi el 60% de los clientes quedan satisfechos.</a:t>
            </a:r>
            <a:endParaRPr>
              <a:solidFill>
                <a:srgbClr val="1F1F1F"/>
              </a:solidFill>
              <a:highlight>
                <a:srgbClr val="FFFFFF"/>
              </a:highlight>
              <a:latin typeface="Roboto"/>
              <a:ea typeface="Roboto"/>
              <a:cs typeface="Roboto"/>
              <a:sym typeface="Roboto"/>
            </a:endParaRPr>
          </a:p>
          <a:p>
            <a:pPr marL="914400" lvl="0" indent="0" algn="l" rtl="0">
              <a:lnSpc>
                <a:spcPct val="115000"/>
              </a:lnSpc>
              <a:spcBef>
                <a:spcPts val="600"/>
              </a:spcBef>
              <a:spcAft>
                <a:spcPts val="0"/>
              </a:spcAft>
              <a:buNone/>
            </a:pPr>
            <a:endParaRPr>
              <a:solidFill>
                <a:srgbClr val="1F1F1F"/>
              </a:solidFill>
              <a:highlight>
                <a:srgbClr val="FFFFFF"/>
              </a:highlight>
              <a:latin typeface="Roboto"/>
              <a:ea typeface="Roboto"/>
              <a:cs typeface="Roboto"/>
              <a:sym typeface="Roboto"/>
            </a:endParaRPr>
          </a:p>
          <a:p>
            <a:pPr marL="0" lvl="0" indent="0" algn="l" rtl="0">
              <a:lnSpc>
                <a:spcPct val="115000"/>
              </a:lnSpc>
              <a:spcBef>
                <a:spcPts val="600"/>
              </a:spcBef>
              <a:spcAft>
                <a:spcPts val="0"/>
              </a:spcAft>
              <a:buNone/>
            </a:pPr>
            <a:endParaRPr>
              <a:solidFill>
                <a:srgbClr val="1F1F1F"/>
              </a:solidFill>
              <a:highlight>
                <a:srgbClr val="FFFFFF"/>
              </a:highlight>
              <a:latin typeface="Roboto"/>
              <a:ea typeface="Roboto"/>
              <a:cs typeface="Roboto"/>
              <a:sym typeface="Roboto"/>
            </a:endParaRPr>
          </a:p>
          <a:p>
            <a:pPr marL="0" lvl="0" indent="0" algn="l" rtl="0">
              <a:lnSpc>
                <a:spcPct val="115000"/>
              </a:lnSpc>
              <a:spcBef>
                <a:spcPts val="600"/>
              </a:spcBef>
              <a:spcAft>
                <a:spcPts val="0"/>
              </a:spcAft>
              <a:buNone/>
            </a:pPr>
            <a:endParaRPr>
              <a:solidFill>
                <a:srgbClr val="1F1F1F"/>
              </a:solidFill>
              <a:highlight>
                <a:srgbClr val="FFFFFF"/>
              </a:highlight>
              <a:latin typeface="Roboto"/>
              <a:ea typeface="Roboto"/>
              <a:cs typeface="Roboto"/>
              <a:sym typeface="Roboto"/>
            </a:endParaRPr>
          </a:p>
          <a:p>
            <a:pPr marL="457200" lvl="0" indent="-317500" algn="l" rtl="0">
              <a:lnSpc>
                <a:spcPct val="115000"/>
              </a:lnSpc>
              <a:spcBef>
                <a:spcPts val="600"/>
              </a:spcBef>
              <a:spcAft>
                <a:spcPts val="0"/>
              </a:spcAft>
              <a:buClr>
                <a:srgbClr val="1F1F1F"/>
              </a:buClr>
              <a:buSzPts val="1400"/>
              <a:buFont typeface="Roboto"/>
              <a:buChar char="●"/>
            </a:pPr>
            <a:r>
              <a:rPr lang="es-419">
                <a:solidFill>
                  <a:srgbClr val="1F1F1F"/>
                </a:solidFill>
                <a:highlight>
                  <a:srgbClr val="FFFFFF"/>
                </a:highlight>
                <a:latin typeface="Roboto"/>
                <a:ea typeface="Roboto"/>
                <a:cs typeface="Roboto"/>
                <a:sym typeface="Roboto"/>
              </a:rPr>
              <a:t>En cuanto a las clases, si el cliente viaje en Business es muy probable que quede satisfecho (casi 70%), mientras que en Economica no supera el 19% y en Eco Plus esta por debajo del 25%.</a:t>
            </a:r>
            <a:endParaRPr>
              <a:solidFill>
                <a:srgbClr val="1F1F1F"/>
              </a:solidFill>
              <a:highlight>
                <a:srgbClr val="FFFFFF"/>
              </a:highlight>
              <a:latin typeface="Roboto"/>
              <a:ea typeface="Roboto"/>
              <a:cs typeface="Roboto"/>
              <a:sym typeface="Roboto"/>
            </a:endParaRPr>
          </a:p>
        </p:txBody>
      </p:sp>
      <p:pic>
        <p:nvPicPr>
          <p:cNvPr id="91" name="Google Shape;91;p18"/>
          <p:cNvPicPr preferRelativeResize="0"/>
          <p:nvPr/>
        </p:nvPicPr>
        <p:blipFill>
          <a:blip r:embed="rId4">
            <a:alphaModFix/>
          </a:blip>
          <a:stretch>
            <a:fillRect/>
          </a:stretch>
        </p:blipFill>
        <p:spPr>
          <a:xfrm>
            <a:off x="152400" y="292551"/>
            <a:ext cx="3720026" cy="2279199"/>
          </a:xfrm>
          <a:prstGeom prst="rect">
            <a:avLst/>
          </a:prstGeom>
          <a:noFill/>
          <a:ln>
            <a:noFill/>
          </a:ln>
        </p:spPr>
      </p:pic>
      <p:pic>
        <p:nvPicPr>
          <p:cNvPr id="92" name="Google Shape;92;p18"/>
          <p:cNvPicPr preferRelativeResize="0"/>
          <p:nvPr/>
        </p:nvPicPr>
        <p:blipFill>
          <a:blip r:embed="rId5">
            <a:alphaModFix/>
          </a:blip>
          <a:stretch>
            <a:fillRect/>
          </a:stretch>
        </p:blipFill>
        <p:spPr>
          <a:xfrm>
            <a:off x="152400" y="2764198"/>
            <a:ext cx="3720024" cy="222690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6"/>
        <p:cNvGrpSpPr/>
        <p:nvPr/>
      </p:nvGrpSpPr>
      <p:grpSpPr>
        <a:xfrm>
          <a:off x="0" y="0"/>
          <a:ext cx="0" cy="0"/>
          <a:chOff x="0" y="0"/>
          <a:chExt cx="0" cy="0"/>
        </a:xfrm>
      </p:grpSpPr>
      <p:pic>
        <p:nvPicPr>
          <p:cNvPr id="97" name="Google Shape;97;p19"/>
          <p:cNvPicPr preferRelativeResize="0"/>
          <p:nvPr/>
        </p:nvPicPr>
        <p:blipFill>
          <a:blip r:embed="rId4">
            <a:alphaModFix/>
          </a:blip>
          <a:stretch>
            <a:fillRect/>
          </a:stretch>
        </p:blipFill>
        <p:spPr>
          <a:xfrm>
            <a:off x="129650" y="348050"/>
            <a:ext cx="3916177" cy="2354225"/>
          </a:xfrm>
          <a:prstGeom prst="rect">
            <a:avLst/>
          </a:prstGeom>
          <a:noFill/>
          <a:ln>
            <a:noFill/>
          </a:ln>
        </p:spPr>
      </p:pic>
      <p:pic>
        <p:nvPicPr>
          <p:cNvPr id="98" name="Google Shape;98;p19"/>
          <p:cNvPicPr preferRelativeResize="0"/>
          <p:nvPr/>
        </p:nvPicPr>
        <p:blipFill>
          <a:blip r:embed="rId5">
            <a:alphaModFix/>
          </a:blip>
          <a:stretch>
            <a:fillRect/>
          </a:stretch>
        </p:blipFill>
        <p:spPr>
          <a:xfrm>
            <a:off x="140025" y="2813521"/>
            <a:ext cx="3895425" cy="2354229"/>
          </a:xfrm>
          <a:prstGeom prst="rect">
            <a:avLst/>
          </a:prstGeom>
          <a:noFill/>
          <a:ln>
            <a:noFill/>
          </a:ln>
        </p:spPr>
      </p:pic>
      <p:sp>
        <p:nvSpPr>
          <p:cNvPr id="99" name="Google Shape;99;p19"/>
          <p:cNvSpPr txBox="1"/>
          <p:nvPr/>
        </p:nvSpPr>
        <p:spPr>
          <a:xfrm>
            <a:off x="4834400" y="496575"/>
            <a:ext cx="3916200" cy="42543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600"/>
              </a:spcBef>
              <a:spcAft>
                <a:spcPts val="0"/>
              </a:spcAft>
              <a:buClr>
                <a:srgbClr val="1F1F1F"/>
              </a:buClr>
              <a:buSzPts val="1400"/>
              <a:buFont typeface="Roboto"/>
              <a:buChar char="●"/>
            </a:pPr>
            <a:r>
              <a:rPr lang="es-419">
                <a:solidFill>
                  <a:srgbClr val="1F1F1F"/>
                </a:solidFill>
                <a:highlight>
                  <a:srgbClr val="FFFFFF"/>
                </a:highlight>
                <a:latin typeface="Roboto"/>
                <a:ea typeface="Roboto"/>
                <a:cs typeface="Roboto"/>
                <a:sym typeface="Roboto"/>
              </a:rPr>
              <a:t>En relacion a la edad las distribuciones son similares, con picos en los clientes insatisfechos en los 25 y 40 años, mientras que los satisfechos es mayor el pico de los 40 años.</a:t>
            </a:r>
            <a:endParaRPr>
              <a:solidFill>
                <a:srgbClr val="1F1F1F"/>
              </a:solidFill>
              <a:highlight>
                <a:srgbClr val="FFFFFF"/>
              </a:highlight>
              <a:latin typeface="Roboto"/>
              <a:ea typeface="Roboto"/>
              <a:cs typeface="Roboto"/>
              <a:sym typeface="Roboto"/>
            </a:endParaRPr>
          </a:p>
          <a:p>
            <a:pPr marL="0" lvl="0" indent="0" algn="l" rtl="0">
              <a:lnSpc>
                <a:spcPct val="115000"/>
              </a:lnSpc>
              <a:spcBef>
                <a:spcPts val="600"/>
              </a:spcBef>
              <a:spcAft>
                <a:spcPts val="0"/>
              </a:spcAft>
              <a:buNone/>
            </a:pPr>
            <a:endParaRPr>
              <a:solidFill>
                <a:srgbClr val="1F1F1F"/>
              </a:solidFill>
              <a:highlight>
                <a:srgbClr val="FFFFFF"/>
              </a:highlight>
              <a:latin typeface="Roboto"/>
              <a:ea typeface="Roboto"/>
              <a:cs typeface="Roboto"/>
              <a:sym typeface="Roboto"/>
            </a:endParaRPr>
          </a:p>
          <a:p>
            <a:pPr marL="0" lvl="0" indent="0" algn="l" rtl="0">
              <a:lnSpc>
                <a:spcPct val="115000"/>
              </a:lnSpc>
              <a:spcBef>
                <a:spcPts val="600"/>
              </a:spcBef>
              <a:spcAft>
                <a:spcPts val="0"/>
              </a:spcAft>
              <a:buNone/>
            </a:pPr>
            <a:endParaRPr>
              <a:solidFill>
                <a:srgbClr val="1F1F1F"/>
              </a:solidFill>
              <a:highlight>
                <a:srgbClr val="FFFFFF"/>
              </a:highlight>
              <a:latin typeface="Roboto"/>
              <a:ea typeface="Roboto"/>
              <a:cs typeface="Roboto"/>
              <a:sym typeface="Roboto"/>
            </a:endParaRPr>
          </a:p>
          <a:p>
            <a:pPr marL="0" lvl="0" indent="0" algn="l" rtl="0">
              <a:lnSpc>
                <a:spcPct val="115000"/>
              </a:lnSpc>
              <a:spcBef>
                <a:spcPts val="600"/>
              </a:spcBef>
              <a:spcAft>
                <a:spcPts val="0"/>
              </a:spcAft>
              <a:buNone/>
            </a:pPr>
            <a:endParaRPr>
              <a:solidFill>
                <a:srgbClr val="1F1F1F"/>
              </a:solidFill>
              <a:highlight>
                <a:srgbClr val="FFFFFF"/>
              </a:highlight>
              <a:latin typeface="Roboto"/>
              <a:ea typeface="Roboto"/>
              <a:cs typeface="Roboto"/>
              <a:sym typeface="Roboto"/>
            </a:endParaRPr>
          </a:p>
          <a:p>
            <a:pPr marL="0" lvl="0" indent="0" algn="l" rtl="0">
              <a:lnSpc>
                <a:spcPct val="115000"/>
              </a:lnSpc>
              <a:spcBef>
                <a:spcPts val="600"/>
              </a:spcBef>
              <a:spcAft>
                <a:spcPts val="0"/>
              </a:spcAft>
              <a:buNone/>
            </a:pPr>
            <a:endParaRPr>
              <a:solidFill>
                <a:srgbClr val="1F1F1F"/>
              </a:solidFill>
              <a:highlight>
                <a:srgbClr val="FFFFFF"/>
              </a:highlight>
              <a:latin typeface="Roboto"/>
              <a:ea typeface="Roboto"/>
              <a:cs typeface="Roboto"/>
              <a:sym typeface="Roboto"/>
            </a:endParaRPr>
          </a:p>
          <a:p>
            <a:pPr marL="457200" lvl="0" indent="-317500" algn="l" rtl="0">
              <a:lnSpc>
                <a:spcPct val="115000"/>
              </a:lnSpc>
              <a:spcBef>
                <a:spcPts val="600"/>
              </a:spcBef>
              <a:spcAft>
                <a:spcPts val="0"/>
              </a:spcAft>
              <a:buClr>
                <a:srgbClr val="1F1F1F"/>
              </a:buClr>
              <a:buSzPts val="1400"/>
              <a:buFont typeface="Roboto"/>
              <a:buChar char="●"/>
            </a:pPr>
            <a:r>
              <a:rPr lang="es-419">
                <a:solidFill>
                  <a:srgbClr val="1F1F1F"/>
                </a:solidFill>
                <a:highlight>
                  <a:srgbClr val="FFFFFF"/>
                </a:highlight>
                <a:latin typeface="Roboto"/>
                <a:ea typeface="Roboto"/>
                <a:cs typeface="Roboto"/>
                <a:sym typeface="Roboto"/>
              </a:rPr>
              <a:t>En cuanto a la distribución de la distancia del vuelo, se puede observar con mayor claridad que una vez pasado los 1.000 Km la curva de los insatisfechos es mucho mas plana que en los clientes satisfechos.</a:t>
            </a:r>
            <a:endParaRPr>
              <a:solidFill>
                <a:srgbClr val="1F1F1F"/>
              </a:solidFill>
              <a:highlight>
                <a:srgbClr val="FFFFFF"/>
              </a:highlight>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pic>
        <p:nvPicPr>
          <p:cNvPr id="104" name="Google Shape;104;p20"/>
          <p:cNvPicPr preferRelativeResize="0"/>
          <p:nvPr/>
        </p:nvPicPr>
        <p:blipFill>
          <a:blip r:embed="rId4">
            <a:alphaModFix/>
          </a:blip>
          <a:stretch>
            <a:fillRect/>
          </a:stretch>
        </p:blipFill>
        <p:spPr>
          <a:xfrm>
            <a:off x="855575" y="164950"/>
            <a:ext cx="7332001" cy="4055149"/>
          </a:xfrm>
          <a:prstGeom prst="rect">
            <a:avLst/>
          </a:prstGeom>
          <a:noFill/>
          <a:ln>
            <a:noFill/>
          </a:ln>
        </p:spPr>
      </p:pic>
      <p:sp>
        <p:nvSpPr>
          <p:cNvPr id="105" name="Google Shape;105;p20"/>
          <p:cNvSpPr txBox="1"/>
          <p:nvPr/>
        </p:nvSpPr>
        <p:spPr>
          <a:xfrm>
            <a:off x="160725" y="4220100"/>
            <a:ext cx="89832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1200">
                <a:solidFill>
                  <a:srgbClr val="1F1F1F"/>
                </a:solidFill>
                <a:highlight>
                  <a:srgbClr val="FFFFFF"/>
                </a:highlight>
                <a:latin typeface="Roboto"/>
                <a:ea typeface="Roboto"/>
                <a:cs typeface="Roboto"/>
                <a:sym typeface="Roboto"/>
              </a:rPr>
              <a:t>Si analizamos los diagramas de dispersión podemos concluir que los vuelos largos bien gestionados tienden a dar más satisfacción. Y si observamos los graficos 3 y 4 Stripplot con jitter (puntos individuales dispersos horizontalmente), la densidad de los clientes satisfechos va disminuyendo mientras aumenta la demora tanto en la salida como en la llegada. Por lo tanto la demora en Salida y/o en llegada afecta a la satisfacción del cliente.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9"/>
        <p:cNvGrpSpPr/>
        <p:nvPr/>
      </p:nvGrpSpPr>
      <p:grpSpPr>
        <a:xfrm>
          <a:off x="0" y="0"/>
          <a:ext cx="0" cy="0"/>
          <a:chOff x="0" y="0"/>
          <a:chExt cx="0" cy="0"/>
        </a:xfrm>
      </p:grpSpPr>
      <p:pic>
        <p:nvPicPr>
          <p:cNvPr id="110" name="Google Shape;110;p21"/>
          <p:cNvPicPr preferRelativeResize="0"/>
          <p:nvPr/>
        </p:nvPicPr>
        <p:blipFill>
          <a:blip r:embed="rId4">
            <a:alphaModFix/>
          </a:blip>
          <a:stretch>
            <a:fillRect/>
          </a:stretch>
        </p:blipFill>
        <p:spPr>
          <a:xfrm>
            <a:off x="152400" y="152400"/>
            <a:ext cx="5406554" cy="4838699"/>
          </a:xfrm>
          <a:prstGeom prst="rect">
            <a:avLst/>
          </a:prstGeom>
          <a:noFill/>
          <a:ln>
            <a:noFill/>
          </a:ln>
        </p:spPr>
      </p:pic>
      <p:sp>
        <p:nvSpPr>
          <p:cNvPr id="111" name="Google Shape;111;p21"/>
          <p:cNvSpPr txBox="1"/>
          <p:nvPr/>
        </p:nvSpPr>
        <p:spPr>
          <a:xfrm>
            <a:off x="5835900" y="152400"/>
            <a:ext cx="3000000" cy="4694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600"/>
              </a:spcBef>
              <a:spcAft>
                <a:spcPts val="0"/>
              </a:spcAft>
              <a:buNone/>
            </a:pPr>
            <a:r>
              <a:rPr lang="es-419" sz="1200">
                <a:solidFill>
                  <a:srgbClr val="1F1F1F"/>
                </a:solidFill>
                <a:highlight>
                  <a:srgbClr val="FFFFFF"/>
                </a:highlight>
                <a:latin typeface="Roboto"/>
                <a:ea typeface="Roboto"/>
                <a:cs typeface="Roboto"/>
                <a:sym typeface="Roboto"/>
              </a:rPr>
              <a:t>Las correlaciones mas importantes con la satisfaccion se dan en Embarque en linea(r ≈ +0.50), Entretenimiento a Bordo (r ≈ +0.40), Comodidad Asiento (r ≈ +0.35), Limpieza (r ≈ +0.31), Distancia Vuelo (r ≈ +0.30) y Demora Despegue de forma negativa (r ≈ -0.05). Las correlaciones no son muy fuertes, ni muy marcadas para determinar que una variable explique la satisfacción.</a:t>
            </a:r>
            <a:endParaRPr sz="1200">
              <a:solidFill>
                <a:srgbClr val="1F1F1F"/>
              </a:solidFill>
              <a:highlight>
                <a:srgbClr val="FFFFFF"/>
              </a:highlight>
              <a:latin typeface="Roboto"/>
              <a:ea typeface="Roboto"/>
              <a:cs typeface="Roboto"/>
              <a:sym typeface="Roboto"/>
            </a:endParaRPr>
          </a:p>
          <a:p>
            <a:pPr marL="0" lvl="0" indent="0" algn="l" rtl="0">
              <a:lnSpc>
                <a:spcPct val="115000"/>
              </a:lnSpc>
              <a:spcBef>
                <a:spcPts val="600"/>
              </a:spcBef>
              <a:spcAft>
                <a:spcPts val="600"/>
              </a:spcAft>
              <a:buNone/>
            </a:pPr>
            <a:r>
              <a:rPr lang="es-419" sz="1200">
                <a:solidFill>
                  <a:srgbClr val="1F1F1F"/>
                </a:solidFill>
                <a:highlight>
                  <a:srgbClr val="FFFFFF"/>
                </a:highlight>
                <a:latin typeface="Roboto"/>
                <a:ea typeface="Roboto"/>
                <a:cs typeface="Roboto"/>
                <a:sym typeface="Roboto"/>
              </a:rPr>
              <a:t>Además podemos observar que la variable Demora Despegue y Arribo estan muy fuerte correlacionadas (r ≈ +0.96), lo que explica que si hay demora en la salida, la hay también en la llegada. Y que las variables de Servicios a Bordo están correlacionadas entre si, por Ej: Entretenimiento a bordo con Limpieza (0.69), comida y bebida con Entretenimiento a bordo (0.62); Comida y bebida con Limpieza (0.66), Etc.</a:t>
            </a:r>
            <a:endParaRPr sz="1200">
              <a:solidFill>
                <a:srgbClr val="1F1F1F"/>
              </a:solidFill>
              <a:highlight>
                <a:srgbClr val="FFFFFF"/>
              </a:highlight>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5"/>
        <p:cNvGrpSpPr/>
        <p:nvPr/>
      </p:nvGrpSpPr>
      <p:grpSpPr>
        <a:xfrm>
          <a:off x="0" y="0"/>
          <a:ext cx="0" cy="0"/>
          <a:chOff x="0" y="0"/>
          <a:chExt cx="0" cy="0"/>
        </a:xfrm>
      </p:grpSpPr>
      <p:sp>
        <p:nvSpPr>
          <p:cNvPr id="116" name="Google Shape;116;p22"/>
          <p:cNvSpPr txBox="1"/>
          <p:nvPr/>
        </p:nvSpPr>
        <p:spPr>
          <a:xfrm>
            <a:off x="2863825" y="250200"/>
            <a:ext cx="30612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3000" b="1">
                <a:solidFill>
                  <a:schemeClr val="dk1"/>
                </a:solidFill>
                <a:highlight>
                  <a:schemeClr val="lt1"/>
                </a:highlight>
              </a:rPr>
              <a:t>Conclusiones</a:t>
            </a:r>
            <a:endParaRPr sz="3000" b="1">
              <a:solidFill>
                <a:schemeClr val="dk1"/>
              </a:solidFill>
              <a:highlight>
                <a:schemeClr val="lt1"/>
              </a:highlight>
            </a:endParaRPr>
          </a:p>
        </p:txBody>
      </p:sp>
      <p:sp>
        <p:nvSpPr>
          <p:cNvPr id="117" name="Google Shape;117;p22"/>
          <p:cNvSpPr txBox="1"/>
          <p:nvPr/>
        </p:nvSpPr>
        <p:spPr>
          <a:xfrm>
            <a:off x="583600" y="1389725"/>
            <a:ext cx="8073900" cy="37866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2"/>
              </a:buClr>
              <a:buSzPts val="1800"/>
              <a:buChar char="●"/>
            </a:pPr>
            <a:r>
              <a:rPr lang="es-419" sz="1800" dirty="0">
                <a:solidFill>
                  <a:schemeClr val="dk2"/>
                </a:solidFill>
              </a:rPr>
              <a:t>La edad no tiene influencia en la satisfacción del cliente.</a:t>
            </a:r>
            <a:endParaRPr sz="1800" dirty="0">
              <a:solidFill>
                <a:schemeClr val="dk2"/>
              </a:solidFill>
            </a:endParaRPr>
          </a:p>
          <a:p>
            <a:pPr marL="457200" lvl="0" indent="-342900" algn="l" rtl="0">
              <a:spcBef>
                <a:spcPts val="0"/>
              </a:spcBef>
              <a:spcAft>
                <a:spcPts val="0"/>
              </a:spcAft>
              <a:buClr>
                <a:schemeClr val="dk2"/>
              </a:buClr>
              <a:buSzPts val="1800"/>
              <a:buChar char="●"/>
            </a:pPr>
            <a:r>
              <a:rPr lang="es-419" sz="1800" dirty="0">
                <a:solidFill>
                  <a:schemeClr val="dk2"/>
                </a:solidFill>
              </a:rPr>
              <a:t>Los clientes leales tienden a estar mas satisfechos.</a:t>
            </a:r>
            <a:endParaRPr sz="1800" dirty="0">
              <a:solidFill>
                <a:schemeClr val="dk2"/>
              </a:solidFill>
            </a:endParaRPr>
          </a:p>
          <a:p>
            <a:pPr marL="457200" lvl="0" indent="-342900" algn="l" rtl="0">
              <a:spcBef>
                <a:spcPts val="0"/>
              </a:spcBef>
              <a:spcAft>
                <a:spcPts val="0"/>
              </a:spcAft>
              <a:buClr>
                <a:schemeClr val="dk2"/>
              </a:buClr>
              <a:buSzPts val="1800"/>
              <a:buChar char="●"/>
            </a:pPr>
            <a:r>
              <a:rPr lang="es-419" sz="1800" dirty="0">
                <a:solidFill>
                  <a:schemeClr val="dk2"/>
                </a:solidFill>
              </a:rPr>
              <a:t>Los viajes de negocios tienen a ser mejor calificados, que los personales.</a:t>
            </a:r>
            <a:endParaRPr sz="1800" dirty="0">
              <a:solidFill>
                <a:schemeClr val="dk2"/>
              </a:solidFill>
            </a:endParaRPr>
          </a:p>
          <a:p>
            <a:pPr marL="457200" lvl="0" indent="-342900" algn="l" rtl="0">
              <a:spcBef>
                <a:spcPts val="0"/>
              </a:spcBef>
              <a:spcAft>
                <a:spcPts val="0"/>
              </a:spcAft>
              <a:buClr>
                <a:schemeClr val="dk2"/>
              </a:buClr>
              <a:buSzPts val="1800"/>
              <a:buChar char="●"/>
            </a:pPr>
            <a:r>
              <a:rPr lang="es-419" sz="1800" dirty="0">
                <a:solidFill>
                  <a:schemeClr val="dk2"/>
                </a:solidFill>
              </a:rPr>
              <a:t>Si el cliente viaje en Business tiende a calificar de forma satisfactoria el vuelo.</a:t>
            </a:r>
            <a:endParaRPr sz="1800" dirty="0">
              <a:solidFill>
                <a:schemeClr val="dk2"/>
              </a:solidFill>
            </a:endParaRPr>
          </a:p>
          <a:p>
            <a:pPr marL="457200" lvl="0" indent="-342900" algn="l" rtl="0">
              <a:spcBef>
                <a:spcPts val="0"/>
              </a:spcBef>
              <a:spcAft>
                <a:spcPts val="0"/>
              </a:spcAft>
              <a:buClr>
                <a:schemeClr val="dk2"/>
              </a:buClr>
              <a:buSzPts val="1800"/>
              <a:buChar char="●"/>
            </a:pPr>
            <a:r>
              <a:rPr lang="es-419" sz="1800" dirty="0">
                <a:solidFill>
                  <a:schemeClr val="dk2"/>
                </a:solidFill>
              </a:rPr>
              <a:t>En cuanto a los vuelos de mayor distancia con menor demora tanto en el despegue como en el arribo tienen a ser mas satisfactorios.</a:t>
            </a:r>
            <a:endParaRPr sz="1800" dirty="0">
              <a:solidFill>
                <a:schemeClr val="dk2"/>
              </a:solidFill>
            </a:endParaRPr>
          </a:p>
          <a:p>
            <a:pPr marL="457200" lvl="0" indent="-342900" algn="l" rtl="0">
              <a:spcBef>
                <a:spcPts val="0"/>
              </a:spcBef>
              <a:spcAft>
                <a:spcPts val="0"/>
              </a:spcAft>
              <a:buClr>
                <a:schemeClr val="dk2"/>
              </a:buClr>
              <a:buSzPts val="1800"/>
              <a:buChar char="●"/>
            </a:pPr>
            <a:r>
              <a:rPr lang="es-419" sz="1800" dirty="0">
                <a:solidFill>
                  <a:schemeClr val="dk2"/>
                </a:solidFill>
              </a:rPr>
              <a:t>En cuanto a los servicios, no hay un servicio que por si solo impacte en la satisfacción sino que están muy relacionados entre ellos.</a:t>
            </a:r>
            <a:endParaRPr sz="1800" dirty="0">
              <a:solidFill>
                <a:schemeClr val="dk2"/>
              </a:solidFill>
            </a:endParaRPr>
          </a:p>
          <a:p>
            <a:pPr marL="457200" lvl="0" indent="-342900" algn="l" rtl="0">
              <a:spcBef>
                <a:spcPts val="0"/>
              </a:spcBef>
              <a:spcAft>
                <a:spcPts val="0"/>
              </a:spcAft>
              <a:buClr>
                <a:schemeClr val="dk2"/>
              </a:buClr>
              <a:buSzPts val="1800"/>
              <a:buChar char="●"/>
            </a:pPr>
            <a:r>
              <a:rPr lang="es-419" sz="1800" dirty="0">
                <a:solidFill>
                  <a:schemeClr val="dk2"/>
                </a:solidFill>
              </a:rPr>
              <a:t>Podemos determinar que los servicios que tienen mayor influencia son el embarque en línea, Entrenamiento a bordo, Comodidad del asiento y limpieza.</a:t>
            </a:r>
            <a:endParaRPr sz="1800" dirty="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15">
          <a:extLst>
            <a:ext uri="{FF2B5EF4-FFF2-40B4-BE49-F238E27FC236}">
              <a16:creationId xmlns:a16="http://schemas.microsoft.com/office/drawing/2014/main" id="{81C89ADC-E5FD-8576-564A-0CB32B797CF9}"/>
            </a:ext>
          </a:extLst>
        </p:cNvPr>
        <p:cNvGrpSpPr/>
        <p:nvPr/>
      </p:nvGrpSpPr>
      <p:grpSpPr>
        <a:xfrm>
          <a:off x="0" y="0"/>
          <a:ext cx="0" cy="0"/>
          <a:chOff x="0" y="0"/>
          <a:chExt cx="0" cy="0"/>
        </a:xfrm>
      </p:grpSpPr>
      <p:sp>
        <p:nvSpPr>
          <p:cNvPr id="116" name="Google Shape;116;p22">
            <a:extLst>
              <a:ext uri="{FF2B5EF4-FFF2-40B4-BE49-F238E27FC236}">
                <a16:creationId xmlns:a16="http://schemas.microsoft.com/office/drawing/2014/main" id="{C1F82D1F-013D-7F87-1A59-84C75870F5A1}"/>
              </a:ext>
            </a:extLst>
          </p:cNvPr>
          <p:cNvSpPr txBox="1"/>
          <p:nvPr/>
        </p:nvSpPr>
        <p:spPr>
          <a:xfrm>
            <a:off x="583600" y="250200"/>
            <a:ext cx="8233298" cy="646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3000" b="1" dirty="0">
                <a:solidFill>
                  <a:schemeClr val="dk1"/>
                </a:solidFill>
                <a:highlight>
                  <a:schemeClr val="lt1"/>
                </a:highlight>
              </a:rPr>
              <a:t>Selección del modelo de Machine </a:t>
            </a:r>
            <a:r>
              <a:rPr lang="es-419" sz="3000" b="1" dirty="0" err="1">
                <a:solidFill>
                  <a:schemeClr val="dk1"/>
                </a:solidFill>
                <a:highlight>
                  <a:schemeClr val="lt1"/>
                </a:highlight>
              </a:rPr>
              <a:t>Learning</a:t>
            </a:r>
            <a:r>
              <a:rPr lang="es-419" sz="3000" b="1" dirty="0">
                <a:solidFill>
                  <a:schemeClr val="dk1"/>
                </a:solidFill>
                <a:highlight>
                  <a:schemeClr val="lt1"/>
                </a:highlight>
              </a:rPr>
              <a:t>.</a:t>
            </a:r>
            <a:endParaRPr sz="3000" b="1" dirty="0">
              <a:solidFill>
                <a:schemeClr val="dk1"/>
              </a:solidFill>
              <a:highlight>
                <a:schemeClr val="lt1"/>
              </a:highlight>
            </a:endParaRPr>
          </a:p>
        </p:txBody>
      </p:sp>
      <p:pic>
        <p:nvPicPr>
          <p:cNvPr id="3" name="Imagen 2">
            <a:extLst>
              <a:ext uri="{FF2B5EF4-FFF2-40B4-BE49-F238E27FC236}">
                <a16:creationId xmlns:a16="http://schemas.microsoft.com/office/drawing/2014/main" id="{2D4FA9D6-13C5-87C8-9854-C8D54C7DC75D}"/>
              </a:ext>
            </a:extLst>
          </p:cNvPr>
          <p:cNvPicPr>
            <a:picLocks noChangeAspect="1"/>
          </p:cNvPicPr>
          <p:nvPr/>
        </p:nvPicPr>
        <p:blipFill>
          <a:blip r:embed="rId4"/>
          <a:stretch>
            <a:fillRect/>
          </a:stretch>
        </p:blipFill>
        <p:spPr>
          <a:xfrm>
            <a:off x="512956" y="1088869"/>
            <a:ext cx="8118088" cy="2850161"/>
          </a:xfrm>
          <a:prstGeom prst="rect">
            <a:avLst/>
          </a:prstGeom>
        </p:spPr>
      </p:pic>
      <p:sp>
        <p:nvSpPr>
          <p:cNvPr id="4" name="Google Shape;117;p22">
            <a:extLst>
              <a:ext uri="{FF2B5EF4-FFF2-40B4-BE49-F238E27FC236}">
                <a16:creationId xmlns:a16="http://schemas.microsoft.com/office/drawing/2014/main" id="{F6F12FBC-F14E-59DF-DD8E-E4257B02F8BF}"/>
              </a:ext>
            </a:extLst>
          </p:cNvPr>
          <p:cNvSpPr txBox="1"/>
          <p:nvPr/>
        </p:nvSpPr>
        <p:spPr>
          <a:xfrm>
            <a:off x="163551" y="3930528"/>
            <a:ext cx="8794595" cy="1107965"/>
          </a:xfrm>
          <a:prstGeom prst="rect">
            <a:avLst/>
          </a:prstGeom>
          <a:noFill/>
          <a:ln>
            <a:noFill/>
          </a:ln>
        </p:spPr>
        <p:txBody>
          <a:bodyPr spcFirstLastPara="1" wrap="square" lIns="91425" tIns="91425" rIns="91425" bIns="91425" anchor="t" anchorCtr="0">
            <a:spAutoFit/>
          </a:bodyPr>
          <a:lstStyle/>
          <a:p>
            <a:pPr marL="114300" lvl="0" algn="l" rtl="0">
              <a:spcBef>
                <a:spcPts val="0"/>
              </a:spcBef>
              <a:spcAft>
                <a:spcPts val="0"/>
              </a:spcAft>
              <a:buClr>
                <a:schemeClr val="dk2"/>
              </a:buClr>
              <a:buSzPts val="1800"/>
            </a:pPr>
            <a:r>
              <a:rPr lang="es-AR" sz="1200" dirty="0">
                <a:solidFill>
                  <a:schemeClr val="dk2"/>
                </a:solidFill>
              </a:rPr>
              <a:t>Se evaluaron los modelos de </a:t>
            </a:r>
            <a:r>
              <a:rPr lang="es-AR" sz="1200" dirty="0" err="1">
                <a:solidFill>
                  <a:schemeClr val="dk2"/>
                </a:solidFill>
              </a:rPr>
              <a:t>Regresion</a:t>
            </a:r>
            <a:r>
              <a:rPr lang="es-AR" sz="1200" dirty="0">
                <a:solidFill>
                  <a:schemeClr val="dk2"/>
                </a:solidFill>
              </a:rPr>
              <a:t> </a:t>
            </a:r>
            <a:r>
              <a:rPr lang="es-AR" sz="1200" dirty="0" err="1">
                <a:solidFill>
                  <a:schemeClr val="dk2"/>
                </a:solidFill>
              </a:rPr>
              <a:t>Logistica</a:t>
            </a:r>
            <a:r>
              <a:rPr lang="es-AR" sz="1200" dirty="0">
                <a:solidFill>
                  <a:schemeClr val="dk2"/>
                </a:solidFill>
              </a:rPr>
              <a:t>, </a:t>
            </a:r>
            <a:r>
              <a:rPr lang="es-AR" sz="1200" dirty="0" err="1">
                <a:solidFill>
                  <a:schemeClr val="dk2"/>
                </a:solidFill>
              </a:rPr>
              <a:t>Random</a:t>
            </a:r>
            <a:r>
              <a:rPr lang="es-AR" sz="1200" dirty="0">
                <a:solidFill>
                  <a:schemeClr val="dk2"/>
                </a:solidFill>
              </a:rPr>
              <a:t> Forest, </a:t>
            </a:r>
            <a:r>
              <a:rPr lang="es-AR" sz="1200" dirty="0" err="1">
                <a:solidFill>
                  <a:schemeClr val="dk2"/>
                </a:solidFill>
              </a:rPr>
              <a:t>XGBoost</a:t>
            </a:r>
            <a:r>
              <a:rPr lang="es-AR" sz="1200" dirty="0">
                <a:solidFill>
                  <a:schemeClr val="dk2"/>
                </a:solidFill>
              </a:rPr>
              <a:t> y KNN. Analizando los resultados podemos determinar que el modelo a seleccionar es el </a:t>
            </a:r>
            <a:r>
              <a:rPr lang="es-AR" sz="1200" dirty="0" err="1">
                <a:solidFill>
                  <a:schemeClr val="dk2"/>
                </a:solidFill>
              </a:rPr>
              <a:t>XGBoost</a:t>
            </a:r>
            <a:r>
              <a:rPr lang="es-AR" sz="1200" dirty="0">
                <a:solidFill>
                  <a:schemeClr val="dk2"/>
                </a:solidFill>
              </a:rPr>
              <a:t>, ya que es el que mejor </a:t>
            </a:r>
            <a:r>
              <a:rPr lang="es-AR" sz="1200" dirty="0" err="1">
                <a:solidFill>
                  <a:schemeClr val="dk2"/>
                </a:solidFill>
              </a:rPr>
              <a:t>Accuracy</a:t>
            </a:r>
            <a:r>
              <a:rPr lang="es-AR" sz="1200" dirty="0">
                <a:solidFill>
                  <a:schemeClr val="dk2"/>
                </a:solidFill>
              </a:rPr>
              <a:t> obtuvo, teniendo en cuenta que </a:t>
            </a:r>
            <a:r>
              <a:rPr lang="es-AR" sz="1200" dirty="0" err="1">
                <a:solidFill>
                  <a:schemeClr val="dk2"/>
                </a:solidFill>
              </a:rPr>
              <a:t>Random</a:t>
            </a:r>
            <a:r>
              <a:rPr lang="es-AR" sz="1200" dirty="0">
                <a:solidFill>
                  <a:schemeClr val="dk2"/>
                </a:solidFill>
              </a:rPr>
              <a:t> Forest puede estar </a:t>
            </a:r>
            <a:r>
              <a:rPr lang="es-AR" sz="1200" dirty="0" err="1">
                <a:solidFill>
                  <a:schemeClr val="dk2"/>
                </a:solidFill>
              </a:rPr>
              <a:t>sobreajustado</a:t>
            </a:r>
            <a:r>
              <a:rPr lang="es-AR" sz="1200" dirty="0">
                <a:solidFill>
                  <a:schemeClr val="dk2"/>
                </a:solidFill>
              </a:rPr>
              <a:t>, ya que en la evaluación del entrenamiento da como resultado 1. Por eso trabajaremos con </a:t>
            </a:r>
            <a:r>
              <a:rPr lang="es-AR" sz="1200" dirty="0" err="1">
                <a:solidFill>
                  <a:schemeClr val="dk2"/>
                </a:solidFill>
              </a:rPr>
              <a:t>XGBoost</a:t>
            </a:r>
            <a:r>
              <a:rPr lang="es-AR" sz="1200" dirty="0">
                <a:solidFill>
                  <a:schemeClr val="dk2"/>
                </a:solidFill>
              </a:rPr>
              <a:t> para ajustar los </a:t>
            </a:r>
            <a:r>
              <a:rPr lang="es-AR" sz="1200" dirty="0" err="1">
                <a:solidFill>
                  <a:schemeClr val="dk2"/>
                </a:solidFill>
              </a:rPr>
              <a:t>hiperparametros</a:t>
            </a:r>
            <a:r>
              <a:rPr lang="es-AR" sz="1200" dirty="0">
                <a:solidFill>
                  <a:schemeClr val="dk2"/>
                </a:solidFill>
              </a:rPr>
              <a:t> y así mejorar el modelo para que no se sobreajuste y que tenga buen rendimiento.</a:t>
            </a:r>
            <a:endParaRPr sz="1200" dirty="0">
              <a:solidFill>
                <a:schemeClr val="dk2"/>
              </a:solidFill>
            </a:endParaRPr>
          </a:p>
        </p:txBody>
      </p:sp>
    </p:spTree>
    <p:extLst>
      <p:ext uri="{BB962C8B-B14F-4D97-AF65-F5344CB8AC3E}">
        <p14:creationId xmlns:p14="http://schemas.microsoft.com/office/powerpoint/2010/main" val="3417229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6173C066-0089-7DD2-F210-32DD3DDDFEAD}"/>
            </a:ext>
          </a:extLst>
        </p:cNvPr>
        <p:cNvGrpSpPr/>
        <p:nvPr/>
      </p:nvGrpSpPr>
      <p:grpSpPr>
        <a:xfrm>
          <a:off x="0" y="0"/>
          <a:ext cx="0" cy="0"/>
          <a:chOff x="0" y="0"/>
          <a:chExt cx="0" cy="0"/>
        </a:xfrm>
      </p:grpSpPr>
      <p:sp>
        <p:nvSpPr>
          <p:cNvPr id="116" name="Google Shape;116;p22">
            <a:extLst>
              <a:ext uri="{FF2B5EF4-FFF2-40B4-BE49-F238E27FC236}">
                <a16:creationId xmlns:a16="http://schemas.microsoft.com/office/drawing/2014/main" id="{E7513C9B-414A-13B9-B44C-AED9D919AB83}"/>
              </a:ext>
            </a:extLst>
          </p:cNvPr>
          <p:cNvSpPr txBox="1"/>
          <p:nvPr/>
        </p:nvSpPr>
        <p:spPr>
          <a:xfrm>
            <a:off x="2334323" y="0"/>
            <a:ext cx="4757854" cy="646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3000" b="1" dirty="0" err="1">
                <a:solidFill>
                  <a:schemeClr val="dk1"/>
                </a:solidFill>
                <a:highlight>
                  <a:schemeClr val="lt1"/>
                </a:highlight>
              </a:rPr>
              <a:t>Metricas</a:t>
            </a:r>
            <a:r>
              <a:rPr lang="es-419" sz="3000" b="1" dirty="0">
                <a:solidFill>
                  <a:schemeClr val="dk1"/>
                </a:solidFill>
                <a:highlight>
                  <a:schemeClr val="lt1"/>
                </a:highlight>
              </a:rPr>
              <a:t> del modelo final</a:t>
            </a:r>
            <a:endParaRPr sz="3000" b="1" dirty="0">
              <a:solidFill>
                <a:schemeClr val="dk1"/>
              </a:solidFill>
              <a:highlight>
                <a:schemeClr val="lt1"/>
              </a:highlight>
            </a:endParaRPr>
          </a:p>
        </p:txBody>
      </p:sp>
      <p:pic>
        <p:nvPicPr>
          <p:cNvPr id="5" name="Imagen 4">
            <a:extLst>
              <a:ext uri="{FF2B5EF4-FFF2-40B4-BE49-F238E27FC236}">
                <a16:creationId xmlns:a16="http://schemas.microsoft.com/office/drawing/2014/main" id="{D1D2EEB7-2A2E-DDCF-9D3C-B45E5C85A692}"/>
              </a:ext>
            </a:extLst>
          </p:cNvPr>
          <p:cNvPicPr>
            <a:picLocks noChangeAspect="1"/>
          </p:cNvPicPr>
          <p:nvPr/>
        </p:nvPicPr>
        <p:blipFill>
          <a:blip r:embed="rId3"/>
          <a:stretch>
            <a:fillRect/>
          </a:stretch>
        </p:blipFill>
        <p:spPr>
          <a:xfrm>
            <a:off x="300288" y="646300"/>
            <a:ext cx="8147825" cy="1080273"/>
          </a:xfrm>
          <a:prstGeom prst="rect">
            <a:avLst/>
          </a:prstGeom>
        </p:spPr>
      </p:pic>
      <p:pic>
        <p:nvPicPr>
          <p:cNvPr id="7" name="Imagen 6">
            <a:extLst>
              <a:ext uri="{FF2B5EF4-FFF2-40B4-BE49-F238E27FC236}">
                <a16:creationId xmlns:a16="http://schemas.microsoft.com/office/drawing/2014/main" id="{5EB0AD0A-EA28-08FB-5779-24CAF35B9628}"/>
              </a:ext>
            </a:extLst>
          </p:cNvPr>
          <p:cNvPicPr>
            <a:picLocks noChangeAspect="1"/>
          </p:cNvPicPr>
          <p:nvPr/>
        </p:nvPicPr>
        <p:blipFill>
          <a:blip r:embed="rId4"/>
          <a:stretch>
            <a:fillRect/>
          </a:stretch>
        </p:blipFill>
        <p:spPr>
          <a:xfrm>
            <a:off x="300288" y="1813095"/>
            <a:ext cx="3578292" cy="2543873"/>
          </a:xfrm>
          <a:prstGeom prst="rect">
            <a:avLst/>
          </a:prstGeom>
        </p:spPr>
      </p:pic>
      <p:pic>
        <p:nvPicPr>
          <p:cNvPr id="9" name="Imagen 8">
            <a:extLst>
              <a:ext uri="{FF2B5EF4-FFF2-40B4-BE49-F238E27FC236}">
                <a16:creationId xmlns:a16="http://schemas.microsoft.com/office/drawing/2014/main" id="{64EF59BB-3436-86A1-E11B-5020F1ECD73B}"/>
              </a:ext>
            </a:extLst>
          </p:cNvPr>
          <p:cNvPicPr>
            <a:picLocks noChangeAspect="1"/>
          </p:cNvPicPr>
          <p:nvPr/>
        </p:nvPicPr>
        <p:blipFill>
          <a:blip r:embed="rId5"/>
          <a:stretch>
            <a:fillRect/>
          </a:stretch>
        </p:blipFill>
        <p:spPr>
          <a:xfrm>
            <a:off x="4301218" y="2274761"/>
            <a:ext cx="3740535" cy="1936766"/>
          </a:xfrm>
          <a:prstGeom prst="rect">
            <a:avLst/>
          </a:prstGeom>
        </p:spPr>
      </p:pic>
      <p:sp>
        <p:nvSpPr>
          <p:cNvPr id="10" name="CuadroTexto 9">
            <a:extLst>
              <a:ext uri="{FF2B5EF4-FFF2-40B4-BE49-F238E27FC236}">
                <a16:creationId xmlns:a16="http://schemas.microsoft.com/office/drawing/2014/main" id="{DFF53D70-B5B0-C7AA-BBF0-55EBDED42B68}"/>
              </a:ext>
            </a:extLst>
          </p:cNvPr>
          <p:cNvSpPr txBox="1"/>
          <p:nvPr/>
        </p:nvSpPr>
        <p:spPr>
          <a:xfrm>
            <a:off x="454226" y="4557132"/>
            <a:ext cx="8235547" cy="461665"/>
          </a:xfrm>
          <a:prstGeom prst="rect">
            <a:avLst/>
          </a:prstGeom>
          <a:solidFill>
            <a:schemeClr val="bg1"/>
          </a:solidFill>
        </p:spPr>
        <p:txBody>
          <a:bodyPr wrap="square" rtlCol="0">
            <a:spAutoFit/>
          </a:bodyPr>
          <a:lstStyle/>
          <a:p>
            <a:r>
              <a:rPr lang="es-AR" sz="1200" dirty="0"/>
              <a:t>Podemos concluir que el modelo final con los </a:t>
            </a:r>
            <a:r>
              <a:rPr lang="es-AR" sz="1200" dirty="0" err="1"/>
              <a:t>hiperparametros</a:t>
            </a:r>
            <a:r>
              <a:rPr lang="es-AR" sz="1200" dirty="0"/>
              <a:t> ajustados, obtuvo muy buenos resultados y predice de forma correcta</a:t>
            </a:r>
          </a:p>
        </p:txBody>
      </p:sp>
      <p:sp>
        <p:nvSpPr>
          <p:cNvPr id="13" name="CuadroTexto 12">
            <a:extLst>
              <a:ext uri="{FF2B5EF4-FFF2-40B4-BE49-F238E27FC236}">
                <a16:creationId xmlns:a16="http://schemas.microsoft.com/office/drawing/2014/main" id="{BC1E3E8E-CB5B-06C2-E208-A0BE08ABC441}"/>
              </a:ext>
            </a:extLst>
          </p:cNvPr>
          <p:cNvSpPr txBox="1"/>
          <p:nvPr/>
        </p:nvSpPr>
        <p:spPr>
          <a:xfrm>
            <a:off x="4827391" y="1897680"/>
            <a:ext cx="2688187" cy="276999"/>
          </a:xfrm>
          <a:prstGeom prst="rect">
            <a:avLst/>
          </a:prstGeom>
          <a:solidFill>
            <a:schemeClr val="bg1"/>
          </a:solidFill>
        </p:spPr>
        <p:txBody>
          <a:bodyPr wrap="square" rtlCol="0">
            <a:spAutoFit/>
          </a:bodyPr>
          <a:lstStyle/>
          <a:p>
            <a:r>
              <a:rPr lang="es-AR" sz="1200" dirty="0"/>
              <a:t>Resultados de la validación cruzada</a:t>
            </a:r>
          </a:p>
        </p:txBody>
      </p:sp>
    </p:spTree>
    <p:extLst>
      <p:ext uri="{BB962C8B-B14F-4D97-AF65-F5344CB8AC3E}">
        <p14:creationId xmlns:p14="http://schemas.microsoft.com/office/powerpoint/2010/main" val="385843825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1023</Words>
  <Application>Microsoft Office PowerPoint</Application>
  <PresentationFormat>Presentación en pantalla (16:9)</PresentationFormat>
  <Paragraphs>58</Paragraphs>
  <Slides>12</Slides>
  <Notes>12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Roboto</vt:lpstr>
      <vt:lpstr>Arial</vt:lpstr>
      <vt:lpstr>Simple Light</vt:lpstr>
      <vt:lpstr>¿Qué impulsa la satisfacción de los pasajeros?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Alegre Juan Francisco</cp:lastModifiedBy>
  <cp:revision>1</cp:revision>
  <dcterms:modified xsi:type="dcterms:W3CDTF">2025-06-26T23:48:33Z</dcterms:modified>
</cp:coreProperties>
</file>